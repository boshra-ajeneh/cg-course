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6" r:id="rId7"/>
  </p:sldIdLst>
  <p:sldSz cx="18288000" cy="10287000"/>
  <p:notesSz cx="6858000" cy="9144000"/>
  <p:embeddedFontLst>
    <p:embeddedFont>
      <p:font typeface="DM Sans 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DM San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6.svg"/><Relationship Id="rId3" Type="http://schemas.openxmlformats.org/officeDocument/2006/relationships/image" Target="../media/image30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svg"/><Relationship Id="rId5" Type="http://schemas.openxmlformats.org/officeDocument/2006/relationships/image" Target="../media/image8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2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10.png"/><Relationship Id="rId17" Type="http://schemas.openxmlformats.org/officeDocument/2006/relationships/image" Target="../media/image28.sv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24.sv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4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svg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21" Type="http://schemas.openxmlformats.org/officeDocument/2006/relationships/image" Target="../media/image22.svg"/><Relationship Id="rId34" Type="http://schemas.openxmlformats.org/officeDocument/2006/relationships/image" Target="../media/image20.png"/><Relationship Id="rId7" Type="http://schemas.openxmlformats.org/officeDocument/2006/relationships/image" Target="../media/image8.svg"/><Relationship Id="rId12" Type="http://schemas.openxmlformats.org/officeDocument/2006/relationships/image" Target="../media/image7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33" Type="http://schemas.openxmlformats.org/officeDocument/2006/relationships/image" Target="../media/image19.png"/><Relationship Id="rId38" Type="http://schemas.openxmlformats.org/officeDocument/2006/relationships/image" Target="../media/image3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24" Type="http://schemas.openxmlformats.org/officeDocument/2006/relationships/image" Target="../media/image13.png"/><Relationship Id="rId32" Type="http://schemas.openxmlformats.org/officeDocument/2006/relationships/image" Target="../media/image42.svg"/><Relationship Id="rId37" Type="http://schemas.openxmlformats.org/officeDocument/2006/relationships/image" Target="../media/image22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16.png"/><Relationship Id="rId36" Type="http://schemas.openxmlformats.org/officeDocument/2006/relationships/image" Target="../media/image21.png"/><Relationship Id="rId10" Type="http://schemas.openxmlformats.org/officeDocument/2006/relationships/image" Target="../media/image6.png"/><Relationship Id="rId19" Type="http://schemas.openxmlformats.org/officeDocument/2006/relationships/image" Target="../media/image20.svg"/><Relationship Id="rId31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image" Target="../media/image28.svg"/><Relationship Id="rId30" Type="http://schemas.openxmlformats.org/officeDocument/2006/relationships/image" Target="../media/image17.png"/><Relationship Id="rId35" Type="http://schemas.openxmlformats.org/officeDocument/2006/relationships/image" Target="../media/image32.svg"/><Relationship Id="rId8" Type="http://schemas.openxmlformats.org/officeDocument/2006/relationships/image" Target="../media/image5.png"/><Relationship Id="rId3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4.svg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image" Target="../media/image2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7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24" Type="http://schemas.openxmlformats.org/officeDocument/2006/relationships/image" Target="../media/image13.png"/><Relationship Id="rId5" Type="http://schemas.openxmlformats.org/officeDocument/2006/relationships/image" Target="../media/image4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10" Type="http://schemas.openxmlformats.org/officeDocument/2006/relationships/image" Target="../media/image6.png"/><Relationship Id="rId19" Type="http://schemas.openxmlformats.org/officeDocument/2006/relationships/image" Target="../media/image20.svg"/><Relationship Id="rId4" Type="http://schemas.openxmlformats.org/officeDocument/2006/relationships/image" Target="../media/image2.png"/><Relationship Id="rId9" Type="http://schemas.openxmlformats.org/officeDocument/2006/relationships/image" Target="../media/image10.svg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36705" y="6409875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6" y="0"/>
                </a:lnTo>
                <a:lnTo>
                  <a:pt x="724986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xmlns="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688802" y="3136543"/>
            <a:ext cx="10910396" cy="320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8"/>
              </a:lnSpc>
            </a:pPr>
            <a:r>
              <a:rPr lang="en-US" sz="1299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4102" y="6624033"/>
            <a:ext cx="8459795" cy="583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4381" b="1" spc="-87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 : Boshra Ajeneh</a:t>
            </a:r>
            <a:endParaRPr lang="en-US" sz="4381" b="1" spc="-87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4737926" y="2576219"/>
            <a:ext cx="724985" cy="920616"/>
          </a:xfrm>
          <a:custGeom>
            <a:avLst/>
            <a:gdLst/>
            <a:ahLst/>
            <a:cxnLst/>
            <a:rect l="l" t="t" r="r" b="b"/>
            <a:pathLst>
              <a:path w="724985" h="920616">
                <a:moveTo>
                  <a:pt x="0" y="0"/>
                </a:moveTo>
                <a:lnTo>
                  <a:pt x="724985" y="0"/>
                </a:lnTo>
                <a:lnTo>
                  <a:pt x="724985" y="920616"/>
                </a:lnTo>
                <a:lnTo>
                  <a:pt x="0" y="9206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94934" y="2091045"/>
            <a:ext cx="6264366" cy="6104909"/>
          </a:xfrm>
          <a:custGeom>
            <a:avLst/>
            <a:gdLst/>
            <a:ahLst/>
            <a:cxnLst/>
            <a:rect l="l" t="t" r="r" b="b"/>
            <a:pathLst>
              <a:path w="6264366" h="6104909">
                <a:moveTo>
                  <a:pt x="0" y="0"/>
                </a:moveTo>
                <a:lnTo>
                  <a:pt x="6264366" y="0"/>
                </a:lnTo>
                <a:lnTo>
                  <a:pt x="6264366" y="6104910"/>
                </a:lnTo>
                <a:lnTo>
                  <a:pt x="0" y="610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4950" y="2345718"/>
            <a:ext cx="7848753" cy="1166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30"/>
              </a:lnSpc>
            </a:pPr>
            <a:r>
              <a:rPr lang="en-US" sz="9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Idea :</a:t>
            </a:r>
            <a:endParaRPr lang="en-US" sz="9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04950" y="4000500"/>
            <a:ext cx="763905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99"/>
              </a:lnSpc>
              <a:spcBef>
                <a:spcPct val="0"/>
              </a:spcBef>
            </a:pPr>
            <a:r>
              <a:rPr lang="en-US" sz="2800" spc="11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Building a scene from a very simple 2D </a:t>
            </a:r>
            <a:endParaRPr lang="en-US" sz="2800" spc="119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ts val="2699"/>
              </a:lnSpc>
              <a:spcBef>
                <a:spcPct val="0"/>
              </a:spcBef>
            </a:pPr>
            <a:endParaRPr lang="en-US" sz="2800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ts val="2699"/>
              </a:lnSpc>
              <a:spcBef>
                <a:spcPct val="0"/>
              </a:spcBef>
            </a:pPr>
            <a:r>
              <a:rPr lang="en-US" sz="2800" spc="119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game </a:t>
            </a:r>
            <a:r>
              <a:rPr lang="en-US" sz="2800" spc="11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consisting of a background, ground, </a:t>
            </a:r>
            <a:endParaRPr lang="en-US" sz="2800" spc="119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2800" u="none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2800" u="none" spc="119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and a simple character.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3600" u="none" spc="119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999" u="none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999" u="none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353489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144000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5003948" y="-189060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-5282649">
            <a:off x="16004285" y="265374"/>
            <a:ext cx="4017207" cy="1370872"/>
          </a:xfrm>
          <a:custGeom>
            <a:avLst/>
            <a:gdLst/>
            <a:ahLst/>
            <a:cxnLst/>
            <a:rect l="l" t="t" r="r" b="b"/>
            <a:pathLst>
              <a:path w="4017207" h="1370872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950" y="2566521"/>
            <a:ext cx="5353050" cy="3397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</a:t>
            </a:r>
            <a:r>
              <a:rPr lang="en-US" sz="9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steps</a:t>
            </a:r>
            <a:r>
              <a:rPr lang="en-US" sz="9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endParaRPr lang="en-US" sz="9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04950" y="6252853"/>
            <a:ext cx="7025086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2400" spc="119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create a project idea, you must first make it exist and then work </a:t>
            </a:r>
            <a:r>
              <a:rPr lang="en-US" sz="2400" spc="119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 improving and developing it.</a:t>
            </a: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endParaRPr lang="en-US" sz="1999" u="none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699"/>
              </a:lnSpc>
              <a:spcBef>
                <a:spcPct val="0"/>
              </a:spcBef>
            </a:pPr>
            <a:r>
              <a:rPr lang="en-US" sz="2400" spc="119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Here are some steps for building this idea: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975489" y="1170261"/>
            <a:ext cx="6998061" cy="2561528"/>
            <a:chOff x="0" y="0"/>
            <a:chExt cx="2342659" cy="8574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491672" y="2024301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01.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75489" y="3862348"/>
            <a:ext cx="6998061" cy="2561528"/>
            <a:chOff x="0" y="0"/>
            <a:chExt cx="2342659" cy="857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75489" y="6557226"/>
            <a:ext cx="6998061" cy="2561528"/>
            <a:chOff x="0" y="0"/>
            <a:chExt cx="2342659" cy="8574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491672" y="4717783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02.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91672" y="7411266"/>
            <a:ext cx="1578952" cy="103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8000" spc="-65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18908" y="4424417"/>
            <a:ext cx="4132127" cy="2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90"/>
              </a:lnSpc>
              <a:spcBef>
                <a:spcPct val="0"/>
              </a:spcBef>
            </a:pPr>
            <a:endParaRPr lang="en-US" sz="1400" u="none" spc="22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-848571" y="8919661"/>
            <a:ext cx="3870946" cy="950141"/>
          </a:xfrm>
          <a:custGeom>
            <a:avLst/>
            <a:gdLst/>
            <a:ahLst/>
            <a:cxnLst/>
            <a:rect l="l" t="t" r="r" b="b"/>
            <a:pathLst>
              <a:path w="3870946" h="950141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472906" y="-2364815"/>
            <a:ext cx="4980952" cy="3731186"/>
          </a:xfrm>
          <a:custGeom>
            <a:avLst/>
            <a:gdLst/>
            <a:ahLst/>
            <a:cxnLst/>
            <a:rect l="l" t="t" r="r" b="b"/>
            <a:pathLst>
              <a:path w="4980952" h="3731186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3431074" y="8919661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-848571" y="-744412"/>
            <a:ext cx="2597326" cy="2796583"/>
          </a:xfrm>
          <a:custGeom>
            <a:avLst/>
            <a:gdLst/>
            <a:ahLst/>
            <a:cxnLst/>
            <a:rect l="l" t="t" r="r" b="b"/>
            <a:pathLst>
              <a:path w="2597326" h="2796583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TextBox 22"/>
          <p:cNvSpPr txBox="1"/>
          <p:nvPr/>
        </p:nvSpPr>
        <p:spPr>
          <a:xfrm>
            <a:off x="12070624" y="1509424"/>
            <a:ext cx="3931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DM Sans" panose="020B0604020202020204" charset="0"/>
              </a:rPr>
              <a:t>Creating the window and floor and choosing appropriate colors.</a:t>
            </a:r>
            <a:endParaRPr lang="en-US" sz="2800" dirty="0">
              <a:latin typeface="DM Sans" panose="020B06040202020202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070624" y="4317045"/>
            <a:ext cx="3778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Building character , body, shape, color....</a:t>
            </a:r>
            <a:endParaRPr lang="en-US" sz="2800" dirty="0"/>
          </a:p>
        </p:txBody>
      </p:sp>
      <p:sp>
        <p:nvSpPr>
          <p:cNvPr id="25" name="TextBox 24"/>
          <p:cNvSpPr txBox="1"/>
          <p:nvPr/>
        </p:nvSpPr>
        <p:spPr>
          <a:xfrm>
            <a:off x="12218908" y="6972300"/>
            <a:ext cx="44688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DM Sans" panose="020B0604020202020204" charset="0"/>
              </a:rPr>
              <a:t>Start adding movements:</a:t>
            </a:r>
          </a:p>
          <a:p>
            <a:r>
              <a:rPr lang="en-US" sz="2800" dirty="0">
                <a:latin typeface="DM Sans" panose="020B0604020202020204" charset="0"/>
              </a:rPr>
              <a:t>m</a:t>
            </a:r>
            <a:r>
              <a:rPr lang="en-US" sz="2800" dirty="0" smtClean="0">
                <a:latin typeface="DM Sans" panose="020B0604020202020204" charset="0"/>
              </a:rPr>
              <a:t>ove right, left, jump, blink.</a:t>
            </a:r>
            <a:endParaRPr lang="en-US" sz="2800" dirty="0">
              <a:latin typeface="DM Sa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6757" y="5074942"/>
            <a:ext cx="2006151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317795" y="4817377"/>
            <a:ext cx="502056" cy="5020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90005" y="4823914"/>
            <a:ext cx="502056" cy="502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75033" y="4817377"/>
            <a:ext cx="502056" cy="50205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732501" y="1907439"/>
            <a:ext cx="8822997" cy="228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730"/>
              </a:lnSpc>
              <a:spcBef>
                <a:spcPct val="0"/>
              </a:spcBef>
            </a:pPr>
            <a:r>
              <a:rPr lang="en-US" sz="9000" b="1" dirty="0" smtClean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What are the problems ?</a:t>
            </a:r>
            <a:endParaRPr lang="en-US" sz="90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349688" y="5546723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45791" y="5589982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51145" y="6295492"/>
            <a:ext cx="2646492" cy="235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4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Separating movin</a:t>
            </a:r>
            <a:r>
              <a:rPr lang="en-US" sz="24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 and stationary objects.</a:t>
            </a:r>
          </a:p>
          <a:p>
            <a:pPr algn="l">
              <a:lnSpc>
                <a:spcPts val="2340"/>
              </a:lnSpc>
            </a:pPr>
            <a:endParaRPr lang="en-US" sz="24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2340"/>
              </a:lnSpc>
            </a:pPr>
            <a:r>
              <a:rPr lang="en-US" sz="24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When the character moves, the ground should not move .</a:t>
            </a:r>
            <a:endParaRPr lang="en-US" sz="24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686214" y="5605201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4" name="Freeform 24"/>
          <p:cNvSpPr/>
          <p:nvPr/>
        </p:nvSpPr>
        <p:spPr>
          <a:xfrm>
            <a:off x="-1573240" y="8893298"/>
            <a:ext cx="4051334" cy="2765036"/>
          </a:xfrm>
          <a:custGeom>
            <a:avLst/>
            <a:gdLst/>
            <a:ahLst/>
            <a:cxnLst/>
            <a:rect l="l" t="t" r="r" b="b"/>
            <a:pathLst>
              <a:path w="4051334" h="2765036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262955" y="886458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-674156" y="-1322787"/>
            <a:ext cx="4224468" cy="2645573"/>
          </a:xfrm>
          <a:custGeom>
            <a:avLst/>
            <a:gdLst/>
            <a:ahLst/>
            <a:cxnLst/>
            <a:rect l="l" t="t" r="r" b="b"/>
            <a:pathLst>
              <a:path w="4224468" h="2645573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101574" y="9560661"/>
            <a:ext cx="3169280" cy="2226419"/>
          </a:xfrm>
          <a:custGeom>
            <a:avLst/>
            <a:gdLst/>
            <a:ahLst/>
            <a:cxnLst/>
            <a:rect l="l" t="t" r="r" b="b"/>
            <a:pathLst>
              <a:path w="3169280" h="2226419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9653627" y="-3037933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-5400000">
            <a:off x="4745771" y="-1877331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2932282" y="9271808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5262955" y="-1072630"/>
            <a:ext cx="1996345" cy="2149497"/>
          </a:xfrm>
          <a:custGeom>
            <a:avLst/>
            <a:gdLst/>
            <a:ahLst/>
            <a:cxnLst/>
            <a:rect l="l" t="t" r="r" b="b"/>
            <a:pathLst>
              <a:path w="1996345" h="2149497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TextBox 31"/>
          <p:cNvSpPr txBox="1"/>
          <p:nvPr/>
        </p:nvSpPr>
        <p:spPr>
          <a:xfrm>
            <a:off x="7595713" y="6204708"/>
            <a:ext cx="26264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DM Sans" panose="020B0604020202020204" charset="0"/>
              </a:rPr>
              <a:t>Make the character move as a single unit, and link the keys to the movement.</a:t>
            </a:r>
            <a:endParaRPr lang="en-US" sz="2400" dirty="0">
              <a:latin typeface="DM Sans" panose="020B0604020202020204" charset="0"/>
            </a:endParaRPr>
          </a:p>
        </p:txBody>
      </p:sp>
      <p:sp>
        <p:nvSpPr>
          <p:cNvPr id="34" name="TextBox 21"/>
          <p:cNvSpPr txBox="1"/>
          <p:nvPr/>
        </p:nvSpPr>
        <p:spPr>
          <a:xfrm>
            <a:off x="12611451" y="6295492"/>
            <a:ext cx="2251304" cy="2064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2400" dirty="0" smtClean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Determine when the character collides with the point and makes it disappear.</a:t>
            </a:r>
            <a:endParaRPr lang="en-US" sz="24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71159" y="5557392"/>
            <a:ext cx="9844046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endParaRPr lang="en-US" sz="1999" u="none" spc="119" dirty="0" smtClean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endParaRPr lang="en-US" sz="1999" u="none" spc="11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699"/>
              </a:lnSpc>
              <a:spcBef>
                <a:spcPct val="0"/>
              </a:spcBef>
            </a:pPr>
            <a:endParaRPr lang="en-US" sz="1999" u="none" spc="119" dirty="0" err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2329398" y="901798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47044" y="9882374"/>
            <a:ext cx="3296956" cy="809253"/>
          </a:xfrm>
          <a:custGeom>
            <a:avLst/>
            <a:gdLst/>
            <a:ahLst/>
            <a:cxnLst/>
            <a:rect l="l" t="t" r="r" b="b"/>
            <a:pathLst>
              <a:path w="3296956" h="809253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94772" y="9017983"/>
            <a:ext cx="4427843" cy="3481392"/>
          </a:xfrm>
          <a:custGeom>
            <a:avLst/>
            <a:gdLst/>
            <a:ahLst/>
            <a:cxnLst/>
            <a:rect l="l" t="t" r="r" b="b"/>
            <a:pathLst>
              <a:path w="4427843" h="3481392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-1408816" y="-1157687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2801533" y="-3053980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7697148" y="-2409194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4861154" y="-2102294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7636188" y="2316685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2570549" y="949682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-5282649">
            <a:off x="16596506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17259300" y="-971659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4" name="Group 23"/>
          <p:cNvGrpSpPr/>
          <p:nvPr/>
        </p:nvGrpSpPr>
        <p:grpSpPr>
          <a:xfrm>
            <a:off x="339464" y="387158"/>
            <a:ext cx="5587239" cy="4553289"/>
            <a:chOff x="1006952" y="1138049"/>
            <a:chExt cx="5587239" cy="4951366"/>
          </a:xfrm>
        </p:grpSpPr>
        <p:grpSp>
          <p:nvGrpSpPr>
            <p:cNvPr id="18" name="Group 11"/>
            <p:cNvGrpSpPr/>
            <p:nvPr/>
          </p:nvGrpSpPr>
          <p:grpSpPr>
            <a:xfrm>
              <a:off x="1006952" y="1138049"/>
              <a:ext cx="5587239" cy="4951366"/>
              <a:chOff x="0" y="0"/>
              <a:chExt cx="2065940" cy="984643"/>
            </a:xfrm>
          </p:grpSpPr>
          <p:sp>
            <p:nvSpPr>
              <p:cNvPr id="19" name="Freeform 12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0" name="TextBox 13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Freeform 24"/>
            <p:cNvSpPr/>
            <p:nvPr/>
          </p:nvSpPr>
          <p:spPr>
            <a:xfrm>
              <a:off x="4226133" y="2229957"/>
              <a:ext cx="1829699" cy="1745076"/>
            </a:xfrm>
            <a:custGeom>
              <a:avLst/>
              <a:gdLst/>
              <a:ahLst/>
              <a:cxnLst/>
              <a:rect l="l" t="t" r="r" b="b"/>
              <a:pathLst>
                <a:path w="1829699" h="1745076">
                  <a:moveTo>
                    <a:pt x="0" y="0"/>
                  </a:moveTo>
                  <a:lnTo>
                    <a:pt x="1829699" y="0"/>
                  </a:lnTo>
                  <a:lnTo>
                    <a:pt x="1829699" y="1745076"/>
                  </a:lnTo>
                  <a:lnTo>
                    <a:pt x="0" y="1745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xmlns="" r:embed="rId2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33"/>
            <p:cNvSpPr txBox="1"/>
            <p:nvPr/>
          </p:nvSpPr>
          <p:spPr>
            <a:xfrm>
              <a:off x="3458475" y="1509155"/>
              <a:ext cx="2816627" cy="230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936"/>
                </a:lnSpc>
              </a:pPr>
              <a:r>
                <a:rPr lang="en-US" sz="1299" u="none" strike="noStrike" dirty="0" smtClean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lang="en-US" sz="1299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40488" y="1281609"/>
              <a:ext cx="3177037" cy="4093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DM Sans" panose="020B0604020202020204" charset="0"/>
                </a:rPr>
                <a:t>At first, all my objects were inside one VAO, so when I moved the character, the ground and the point </a:t>
              </a:r>
              <a:r>
                <a:rPr lang="en-US" sz="2000" dirty="0" smtClean="0">
                  <a:latin typeface="DM Sans" panose="020B0604020202020204" charset="0"/>
                </a:rPr>
                <a:t>also moved</a:t>
              </a:r>
              <a:r>
                <a:rPr lang="en-US" sz="2000" dirty="0">
                  <a:latin typeface="DM Sans" panose="020B0604020202020204" charset="0"/>
                </a:rPr>
                <a:t>. To fix this, I separated them into different VAOs. Now each object has its own data and its own transformations, so I can control them independently.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38433" y="6847841"/>
            <a:ext cx="5587239" cy="3173094"/>
            <a:chOff x="1005647" y="6542406"/>
            <a:chExt cx="5587239" cy="3173094"/>
          </a:xfrm>
        </p:grpSpPr>
        <p:grpSp>
          <p:nvGrpSpPr>
            <p:cNvPr id="26" name="Group 14"/>
            <p:cNvGrpSpPr/>
            <p:nvPr/>
          </p:nvGrpSpPr>
          <p:grpSpPr>
            <a:xfrm>
              <a:off x="1005647" y="6542406"/>
              <a:ext cx="5587239" cy="3173094"/>
              <a:chOff x="0" y="0"/>
              <a:chExt cx="2065940" cy="984643"/>
            </a:xfrm>
          </p:grpSpPr>
          <p:sp>
            <p:nvSpPr>
              <p:cNvPr id="28" name="Freeform 15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9" name="TextBox 16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207" y="6595378"/>
              <a:ext cx="5491609" cy="3073024"/>
            </a:xfrm>
            <a:prstGeom prst="rect">
              <a:avLst/>
            </a:prstGeom>
          </p:spPr>
        </p:pic>
      </p:grpSp>
      <p:grpSp>
        <p:nvGrpSpPr>
          <p:cNvPr id="30" name="Group 29"/>
          <p:cNvGrpSpPr/>
          <p:nvPr/>
        </p:nvGrpSpPr>
        <p:grpSpPr>
          <a:xfrm>
            <a:off x="6471750" y="387157"/>
            <a:ext cx="5587239" cy="4553289"/>
            <a:chOff x="11672060" y="1025291"/>
            <a:chExt cx="5587239" cy="4951367"/>
          </a:xfrm>
        </p:grpSpPr>
        <p:grpSp>
          <p:nvGrpSpPr>
            <p:cNvPr id="31" name="Group 2"/>
            <p:cNvGrpSpPr/>
            <p:nvPr/>
          </p:nvGrpSpPr>
          <p:grpSpPr>
            <a:xfrm>
              <a:off x="11672060" y="1025291"/>
              <a:ext cx="5587239" cy="4951367"/>
              <a:chOff x="0" y="0"/>
              <a:chExt cx="2065940" cy="984643"/>
            </a:xfrm>
          </p:grpSpPr>
          <p:sp>
            <p:nvSpPr>
              <p:cNvPr id="35" name="Freeform 3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6" name="TextBox 4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Freeform 26"/>
            <p:cNvSpPr/>
            <p:nvPr/>
          </p:nvSpPr>
          <p:spPr>
            <a:xfrm>
              <a:off x="11881665" y="1397759"/>
              <a:ext cx="1946733" cy="1700958"/>
            </a:xfrm>
            <a:custGeom>
              <a:avLst/>
              <a:gdLst/>
              <a:ahLst/>
              <a:cxnLst/>
              <a:rect l="l" t="t" r="r" b="b"/>
              <a:pathLst>
                <a:path w="1946733" h="1700958">
                  <a:moveTo>
                    <a:pt x="0" y="0"/>
                  </a:moveTo>
                  <a:lnTo>
                    <a:pt x="1946733" y="0"/>
                  </a:lnTo>
                  <a:lnTo>
                    <a:pt x="1946733" y="1700958"/>
                  </a:lnTo>
                  <a:lnTo>
                    <a:pt x="0" y="1700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xmlns="" r:embed="rId3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TextBox 30"/>
            <p:cNvSpPr txBox="1"/>
            <p:nvPr/>
          </p:nvSpPr>
          <p:spPr>
            <a:xfrm>
              <a:off x="14017220" y="1166450"/>
              <a:ext cx="2816627" cy="230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936"/>
                </a:lnSpc>
                <a:spcBef>
                  <a:spcPct val="0"/>
                </a:spcBef>
              </a:pPr>
              <a:endParaRPr lang="en-US" sz="1299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949795" y="1205891"/>
              <a:ext cx="3216692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DM Sans" panose="020B0604020202020204" charset="0"/>
                </a:rPr>
                <a:t>when I pressed a movement key, the character kept moving until it went outside the screen. This happened because I was only checking the current key state and I had no movement limits. I solved this by tracking the previous and current key states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470231" y="6815683"/>
            <a:ext cx="5587239" cy="3173094"/>
            <a:chOff x="11672060" y="5513419"/>
            <a:chExt cx="5587239" cy="2999888"/>
          </a:xfrm>
        </p:grpSpPr>
        <p:grpSp>
          <p:nvGrpSpPr>
            <p:cNvPr id="38" name="Group 8"/>
            <p:cNvGrpSpPr/>
            <p:nvPr/>
          </p:nvGrpSpPr>
          <p:grpSpPr>
            <a:xfrm>
              <a:off x="11672060" y="5513419"/>
              <a:ext cx="5587239" cy="2999888"/>
              <a:chOff x="0" y="0"/>
              <a:chExt cx="2065940" cy="984643"/>
            </a:xfrm>
          </p:grpSpPr>
          <p:sp>
            <p:nvSpPr>
              <p:cNvPr id="40" name="Freeform 9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1" name="TextBox 10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4585" y="5655754"/>
              <a:ext cx="5391902" cy="2768347"/>
            </a:xfrm>
            <a:prstGeom prst="rect">
              <a:avLst/>
            </a:prstGeom>
          </p:spPr>
        </p:pic>
      </p:grpSp>
      <p:grpSp>
        <p:nvGrpSpPr>
          <p:cNvPr id="48" name="Group 47"/>
          <p:cNvGrpSpPr/>
          <p:nvPr/>
        </p:nvGrpSpPr>
        <p:grpSpPr>
          <a:xfrm>
            <a:off x="12523811" y="344248"/>
            <a:ext cx="5587239" cy="4573246"/>
            <a:chOff x="12896855" y="611245"/>
            <a:chExt cx="5587239" cy="4573246"/>
          </a:xfrm>
        </p:grpSpPr>
        <p:grpSp>
          <p:nvGrpSpPr>
            <p:cNvPr id="42" name="Group 17"/>
            <p:cNvGrpSpPr/>
            <p:nvPr/>
          </p:nvGrpSpPr>
          <p:grpSpPr>
            <a:xfrm>
              <a:off x="12896855" y="611245"/>
              <a:ext cx="5587239" cy="4573246"/>
              <a:chOff x="0" y="0"/>
              <a:chExt cx="2065940" cy="984643"/>
            </a:xfrm>
          </p:grpSpPr>
          <p:sp>
            <p:nvSpPr>
              <p:cNvPr id="43" name="Freeform 18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4" name="TextBox 19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5" name="Freeform 3"/>
            <p:cNvSpPr/>
            <p:nvPr/>
          </p:nvSpPr>
          <p:spPr>
            <a:xfrm>
              <a:off x="16333527" y="2869003"/>
              <a:ext cx="2035575" cy="2104267"/>
            </a:xfrm>
            <a:custGeom>
              <a:avLst/>
              <a:gdLst/>
              <a:ahLst/>
              <a:cxnLst/>
              <a:rect l="l" t="t" r="r" b="b"/>
              <a:pathLst>
                <a:path w="5956731" h="6527925">
                  <a:moveTo>
                    <a:pt x="0" y="0"/>
                  </a:moveTo>
                  <a:lnTo>
                    <a:pt x="5956731" y="0"/>
                  </a:lnTo>
                  <a:lnTo>
                    <a:pt x="5956731" y="6527924"/>
                  </a:lnTo>
                  <a:lnTo>
                    <a:pt x="0" y="6527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xmlns="" r:embed="rId3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TextBox 45"/>
            <p:cNvSpPr txBox="1"/>
            <p:nvPr/>
          </p:nvSpPr>
          <p:spPr>
            <a:xfrm>
              <a:off x="13103101" y="2601197"/>
              <a:ext cx="304800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latin typeface="DM Sans" panose="020B0604020202020204" charset="0"/>
                </a:rPr>
                <a:t>If </a:t>
              </a:r>
              <a:r>
                <a:rPr lang="en-US" sz="2000" dirty="0">
                  <a:latin typeface="DM Sans" panose="020B0604020202020204" charset="0"/>
                </a:rPr>
                <a:t>the distance was smaller than a chosen threshold, I considered it a collision. This allowed me to detect when the character touched the point accurately.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3117101" y="744120"/>
              <a:ext cx="514447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DM Sans" panose="020B0604020202020204" charset="0"/>
                </a:rPr>
                <a:t>To detect collision, I first calculated the real position of the character by adding its base center to the movement uniforms. Then I compared the distance between the character’s center and the point.</a:t>
              </a:r>
              <a:endParaRPr lang="en-US" sz="2000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2522674" y="6794941"/>
            <a:ext cx="5587239" cy="3193836"/>
            <a:chOff x="12460473" y="5795398"/>
            <a:chExt cx="5587239" cy="3193836"/>
          </a:xfrm>
        </p:grpSpPr>
        <p:grpSp>
          <p:nvGrpSpPr>
            <p:cNvPr id="49" name="Group 17"/>
            <p:cNvGrpSpPr/>
            <p:nvPr/>
          </p:nvGrpSpPr>
          <p:grpSpPr>
            <a:xfrm>
              <a:off x="12460473" y="5795398"/>
              <a:ext cx="5587239" cy="3193836"/>
              <a:chOff x="0" y="0"/>
              <a:chExt cx="2065940" cy="984643"/>
            </a:xfrm>
          </p:grpSpPr>
          <p:sp>
            <p:nvSpPr>
              <p:cNvPr id="50" name="Freeform 18"/>
              <p:cNvSpPr/>
              <p:nvPr/>
            </p:nvSpPr>
            <p:spPr>
              <a:xfrm>
                <a:off x="0" y="0"/>
                <a:ext cx="2065940" cy="984643"/>
              </a:xfrm>
              <a:custGeom>
                <a:avLst/>
                <a:gdLst/>
                <a:ahLst/>
                <a:cxnLst/>
                <a:rect l="l" t="t" r="r" b="b"/>
                <a:pathLst>
                  <a:path w="2065940" h="984643">
                    <a:moveTo>
                      <a:pt x="20785" y="0"/>
                    </a:moveTo>
                    <a:lnTo>
                      <a:pt x="2045156" y="0"/>
                    </a:lnTo>
                    <a:cubicBezTo>
                      <a:pt x="2056635" y="0"/>
                      <a:pt x="2065940" y="9306"/>
                      <a:pt x="2065940" y="20785"/>
                    </a:cubicBezTo>
                    <a:lnTo>
                      <a:pt x="2065940" y="963859"/>
                    </a:lnTo>
                    <a:cubicBezTo>
                      <a:pt x="2065940" y="975338"/>
                      <a:pt x="2056635" y="984643"/>
                      <a:pt x="2045156" y="984643"/>
                    </a:cubicBezTo>
                    <a:lnTo>
                      <a:pt x="20785" y="984643"/>
                    </a:lnTo>
                    <a:cubicBezTo>
                      <a:pt x="9306" y="984643"/>
                      <a:pt x="0" y="975338"/>
                      <a:pt x="0" y="963859"/>
                    </a:cubicBezTo>
                    <a:lnTo>
                      <a:pt x="0" y="20785"/>
                    </a:lnTo>
                    <a:cubicBezTo>
                      <a:pt x="0" y="9306"/>
                      <a:pt x="9306" y="0"/>
                      <a:pt x="20785" y="0"/>
                    </a:cubicBezTo>
                    <a:close/>
                  </a:path>
                </a:pathLst>
              </a:custGeom>
              <a:solidFill>
                <a:srgbClr val="8AB7E2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1" name="TextBox 19"/>
              <p:cNvSpPr txBox="1"/>
              <p:nvPr/>
            </p:nvSpPr>
            <p:spPr>
              <a:xfrm>
                <a:off x="0" y="-38100"/>
                <a:ext cx="2065940" cy="10227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23811" y="5920976"/>
              <a:ext cx="5472247" cy="2977604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5486024" y="5130451"/>
            <a:ext cx="87786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>
                <a:latin typeface="DM Sans" panose="020B0604020202020204" charset="0"/>
              </a:rPr>
              <a:t>The solutions</a:t>
            </a:r>
            <a:endParaRPr lang="en-US" sz="8800" dirty="0">
              <a:latin typeface="DM Sans" panose="020B0604020202020204" charset="0"/>
            </a:endParaRPr>
          </a:p>
        </p:txBody>
      </p:sp>
      <p:sp>
        <p:nvSpPr>
          <p:cNvPr id="57" name="Freeform 20"/>
          <p:cNvSpPr/>
          <p:nvPr/>
        </p:nvSpPr>
        <p:spPr>
          <a:xfrm rot="13699946">
            <a:off x="4518211" y="5313186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xmlns="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21"/>
          <p:cNvSpPr/>
          <p:nvPr/>
        </p:nvSpPr>
        <p:spPr>
          <a:xfrm rot="18900000">
            <a:off x="12670752" y="5228659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xmlns="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22"/>
          <p:cNvSpPr/>
          <p:nvPr/>
        </p:nvSpPr>
        <p:spPr>
          <a:xfrm rot="3209977">
            <a:off x="12631388" y="6103436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xmlns="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23"/>
          <p:cNvSpPr/>
          <p:nvPr/>
        </p:nvSpPr>
        <p:spPr>
          <a:xfrm rot="7866361">
            <a:off x="4515960" y="6181912"/>
            <a:ext cx="1012981" cy="454921"/>
          </a:xfrm>
          <a:custGeom>
            <a:avLst/>
            <a:gdLst/>
            <a:ahLst/>
            <a:cxnLst/>
            <a:rect l="l" t="t" r="r" b="b"/>
            <a:pathLst>
              <a:path w="1012981" h="45492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xmlns="" r:embed="rId3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29398" y="8614893"/>
            <a:ext cx="4899948" cy="3344214"/>
          </a:xfrm>
          <a:custGeom>
            <a:avLst/>
            <a:gdLst/>
            <a:ahLst/>
            <a:cxnLst/>
            <a:rect l="l" t="t" r="r" b="b"/>
            <a:pathLst>
              <a:path w="4899948" h="3344214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30709" y="9258300"/>
            <a:ext cx="3059829" cy="751049"/>
          </a:xfrm>
          <a:custGeom>
            <a:avLst/>
            <a:gdLst/>
            <a:ahLst/>
            <a:cxnLst/>
            <a:rect l="l" t="t" r="r" b="b"/>
            <a:pathLst>
              <a:path w="3059829" h="751049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5205" y="8540136"/>
            <a:ext cx="4602314" cy="3618569"/>
          </a:xfrm>
          <a:custGeom>
            <a:avLst/>
            <a:gdLst/>
            <a:ahLst/>
            <a:cxnLst/>
            <a:rect l="l" t="t" r="r" b="b"/>
            <a:pathLst>
              <a:path w="4602314" h="3618569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674156" y="-1072630"/>
            <a:ext cx="4899948" cy="3068592"/>
          </a:xfrm>
          <a:custGeom>
            <a:avLst/>
            <a:gdLst/>
            <a:ahLst/>
            <a:cxnLst/>
            <a:rect l="l" t="t" r="r" b="b"/>
            <a:pathLst>
              <a:path w="4899948" h="3068592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86214" y="-2578193"/>
            <a:ext cx="4292424" cy="3870986"/>
          </a:xfrm>
          <a:custGeom>
            <a:avLst/>
            <a:gdLst/>
            <a:ahLst/>
            <a:cxnLst/>
            <a:rect l="l" t="t" r="r" b="b"/>
            <a:pathLst>
              <a:path w="4292424" h="3870986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138935" y="9258300"/>
            <a:ext cx="4076270" cy="2863579"/>
          </a:xfrm>
          <a:custGeom>
            <a:avLst/>
            <a:gdLst/>
            <a:ahLst/>
            <a:cxnLst/>
            <a:rect l="l" t="t" r="r" b="b"/>
            <a:pathLst>
              <a:path w="4076270" h="2863579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409323" y="-2700100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 rot="4747568">
            <a:off x="-2972342" y="3665317"/>
            <a:ext cx="4896097" cy="2735694"/>
          </a:xfrm>
          <a:custGeom>
            <a:avLst/>
            <a:gdLst/>
            <a:ahLst/>
            <a:cxnLst/>
            <a:rect l="l" t="t" r="r" b="b"/>
            <a:pathLst>
              <a:path w="4896097" h="2735694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4831481" y="-1626507"/>
            <a:ext cx="2892762" cy="2919301"/>
          </a:xfrm>
          <a:custGeom>
            <a:avLst/>
            <a:gdLst/>
            <a:ahLst/>
            <a:cxnLst/>
            <a:rect l="l" t="t" r="r" b="b"/>
            <a:pathLst>
              <a:path w="2892762" h="2919301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7259300" y="2262342"/>
            <a:ext cx="3575541" cy="3575541"/>
          </a:xfrm>
          <a:custGeom>
            <a:avLst/>
            <a:gdLst/>
            <a:ahLst/>
            <a:cxnLst/>
            <a:rect l="l" t="t" r="r" b="b"/>
            <a:pathLst>
              <a:path w="3575541" h="3575541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570549" y="9093737"/>
            <a:ext cx="2587020" cy="2386526"/>
          </a:xfrm>
          <a:custGeom>
            <a:avLst/>
            <a:gdLst/>
            <a:ahLst/>
            <a:cxnLst/>
            <a:rect l="l" t="t" r="r" b="b"/>
            <a:pathLst>
              <a:path w="2587020" h="2386526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5282649">
            <a:off x="16440369" y="6970869"/>
            <a:ext cx="3382987" cy="1154444"/>
          </a:xfrm>
          <a:custGeom>
            <a:avLst/>
            <a:gdLst/>
            <a:ahLst/>
            <a:cxnLst/>
            <a:rect l="l" t="t" r="r" b="b"/>
            <a:pathLst>
              <a:path w="3382987" h="1154444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6978638" y="-642644"/>
            <a:ext cx="3104522" cy="3342688"/>
          </a:xfrm>
          <a:custGeom>
            <a:avLst/>
            <a:gdLst/>
            <a:ahLst/>
            <a:cxnLst/>
            <a:rect l="l" t="t" r="r" b="b"/>
            <a:pathLst>
              <a:path w="3104522" h="3342688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88802" y="3019867"/>
            <a:ext cx="10910396" cy="3364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9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333</Words>
  <Application>Microsoft Office PowerPoint</Application>
  <PresentationFormat>Custom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DM Sans Bold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Doodle Project Presentation</dc:title>
  <cp:lastModifiedBy>USER4</cp:lastModifiedBy>
  <cp:revision>16</cp:revision>
  <dcterms:created xsi:type="dcterms:W3CDTF">2006-08-16T00:00:00Z</dcterms:created>
  <dcterms:modified xsi:type="dcterms:W3CDTF">2026-02-27T18:34:15Z</dcterms:modified>
  <dc:identifier>DAHCh-_IXb0</dc:identifier>
</cp:coreProperties>
</file>